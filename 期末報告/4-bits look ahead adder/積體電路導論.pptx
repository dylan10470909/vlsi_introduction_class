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l9eEWqjMMc1sJt3j4JS22WZ7P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18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18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18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18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8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8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8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8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Google Shape;61;p18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Google Shape;62;p18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8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Google Shape;64;p18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18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8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18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Google Shape;70;p18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8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8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Google Shape;73;p18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8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8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Google Shape;76;p18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8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Google Shape;78;p18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8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18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8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18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8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8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8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18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18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8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18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18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8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Google Shape;92;p18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18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8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18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8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18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8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8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Google Shape;102;p18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18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8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8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18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8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18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95DE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18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18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21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22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22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5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5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2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6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2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全景圖片 (含輔助字幕)">
  <p:cSld name="全景圖片 (含輔助字幕)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7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2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輔助字幕">
  <p:cSld name="標題與輔助字幕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8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2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引述 (含輔助字幕)">
  <p:cSld name="引述 (含輔助字幕)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29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2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n-US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29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lang="en-US" sz="8000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名片">
  <p:cSld name="名片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3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欄">
  <p:cSld name="3 欄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31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31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31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31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31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3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圖片欄">
  <p:cSld name="3 圖片欄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32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08" name="Google Shape;208;p32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32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32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1" name="Google Shape;211;p32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32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32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3FFFF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</p:sp>
      <p:sp>
        <p:nvSpPr>
          <p:cNvPr id="214" name="Google Shape;214;p32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3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3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3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4"/>
          <p:cNvSpPr txBox="1"/>
          <p:nvPr>
            <p:ph idx="1" type="body"/>
          </p:nvPr>
        </p:nvSpPr>
        <p:spPr>
          <a:xfrm rot="5400000">
            <a:off x="2424905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3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7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7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7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7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7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7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7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7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7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7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7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7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7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7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7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7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7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7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7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7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7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7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7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7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7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7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7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7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7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95DE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7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7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7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7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7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7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7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7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7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7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7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rgbClr val="82FFFF">
                      <a:alpha val="80000"/>
                    </a:srgbClr>
                  </a:gs>
                  <a:gs pos="100000">
                    <a:srgbClr val="3B95DE">
                      <a:alpha val="60000"/>
                    </a:srgbClr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7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.jp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"/>
          <p:cNvSpPr txBox="1"/>
          <p:nvPr>
            <p:ph type="ctrTitle"/>
          </p:nvPr>
        </p:nvSpPr>
        <p:spPr>
          <a:xfrm>
            <a:off x="1876424" y="868362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/>
              <a:t>積體電路導論</a:t>
            </a:r>
            <a:br>
              <a:rPr lang="en-US"/>
            </a:br>
            <a:r>
              <a:rPr b="0" i="0" lang="en-US"/>
              <a:t>4-BIT  LOOK AHEAD ADDERS</a:t>
            </a:r>
            <a:br>
              <a:rPr b="0" i="0" lang="en-US"/>
            </a:br>
            <a:endParaRPr/>
          </a:p>
        </p:txBody>
      </p:sp>
      <p:sp>
        <p:nvSpPr>
          <p:cNvPr id="235" name="Google Shape;235;p1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25000"/>
              <a:buNone/>
            </a:pPr>
            <a:r>
              <a:rPr lang="en-US"/>
              <a:t>系別:電通三乙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None/>
            </a:pPr>
            <a:r>
              <a:rPr lang="en-US"/>
              <a:t>學生:游凱翔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None/>
            </a:pPr>
            <a:r>
              <a:rPr lang="en-US"/>
              <a:t>學號:C107110249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ct val="125000"/>
              <a:buNone/>
            </a:pPr>
            <a:r>
              <a:rPr lang="en-US"/>
              <a:t>指導教授:謝瑞鴻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目錄</a:t>
            </a:r>
            <a:endParaRPr/>
          </a:p>
        </p:txBody>
      </p:sp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研究目的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1-bit FULL ADDER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4-bit FULL ADDER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b="0" i="0" lang="en-US"/>
              <a:t>4-bit  LOOK AHEAD ADDERS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VERILOG 程式碼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WAVEFORM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電路圖比較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wentieth Century"/>
              <a:buAutoNum type="arabicPeriod"/>
            </a:pPr>
            <a:r>
              <a:rPr lang="en-US"/>
              <a:t>感想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研究目的</a:t>
            </a:r>
            <a:endParaRPr/>
          </a:p>
        </p:txBody>
      </p:sp>
      <p:sp>
        <p:nvSpPr>
          <p:cNvPr id="247" name="Google Shape;247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/>
              <a:t>在學期中我們有做一個LAB，那次的實驗是在做4位元全加器，之後我在計算機組織這堂課中學到1位元加法器、漣波加法器、前瞻進位加法器跟進位選擇器，那我選擇的是前瞻進位加法器，之後我就決定將課堂上的理論帶到實作課上，很少有機會可以在同個時段將理論跟實作併行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1-BIT FULL ADDER</a:t>
            </a:r>
            <a:endParaRPr/>
          </a:p>
        </p:txBody>
      </p:sp>
      <p:pic>
        <p:nvPicPr>
          <p:cNvPr descr="一張含有 桌 的圖片&#10;&#10;自動產生的描述" id="253" name="Google Shape;253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1170" y="2303463"/>
            <a:ext cx="4029075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39339" y="2297489"/>
            <a:ext cx="2953080" cy="2463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4-BIT FULL ADDER</a:t>
            </a:r>
            <a:endParaRPr/>
          </a:p>
        </p:txBody>
      </p:sp>
      <p:pic>
        <p:nvPicPr>
          <p:cNvPr id="260" name="Google Shape;260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2327" y="2398747"/>
            <a:ext cx="6426481" cy="236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4-BIT FULL ADDER</a:t>
            </a:r>
            <a:endParaRPr/>
          </a:p>
        </p:txBody>
      </p:sp>
      <p:pic>
        <p:nvPicPr>
          <p:cNvPr id="266" name="Google Shape;266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2327" y="2398747"/>
            <a:ext cx="6426481" cy="23621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4-BIT FULL ADDER</a:t>
            </a:r>
            <a:endParaRPr/>
          </a:p>
        </p:txBody>
      </p:sp>
      <p:pic>
        <p:nvPicPr>
          <p:cNvPr id="272" name="Google Shape;272;p7"/>
          <p:cNvPicPr preferRelativeResize="0"/>
          <p:nvPr/>
        </p:nvPicPr>
        <p:blipFill rotWithShape="1">
          <a:blip r:embed="rId3">
            <a:alphaModFix/>
          </a:blip>
          <a:srcRect b="35336" l="47232" r="25088" t="28547"/>
          <a:stretch/>
        </p:blipFill>
        <p:spPr>
          <a:xfrm>
            <a:off x="7658774" y="575810"/>
            <a:ext cx="3809278" cy="2666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7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0438" y="2952929"/>
            <a:ext cx="6426481" cy="236216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7"/>
          <p:cNvSpPr txBox="1"/>
          <p:nvPr/>
        </p:nvSpPr>
        <p:spPr>
          <a:xfrm>
            <a:off x="4057218" y="5522258"/>
            <a:ext cx="19559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圖5.17為2τ*4=8 τ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8014448" y="3242305"/>
            <a:ext cx="345360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圖(A)每一個AND閘為併行處理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每一個元件為τ</a:t>
            </a: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4-BIT  LOOK-AHEAD ADDERS(1/3)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1062319" y="1811229"/>
            <a:ext cx="9905999" cy="3917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gk=Ai&amp;Bi</a:t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pk=Ai^Bi   (Delay times=1τ)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Cin1=Cout0=(A0&amp;B0)+(A0^B0)&amp;Cin0=g0+p0&amp;Cin0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Cin2=Cout0=(A1&amp;B1)+(A1^B1)&amp;Cin1=g1+p1&amp;Cin1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Cin3=Cout0=(A2&amp;B2)+(A2^B2)&amp;Cin2=g2+p2&amp;Cin2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Cin4=Cout0=(A3&amp;B3)+(A3^B3)&amp;Cin3=g3+p3&amp;Cin3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4-BIT  LOOK-AHEAD ADDERS(2/3)</a:t>
            </a:r>
            <a:endParaRPr/>
          </a:p>
        </p:txBody>
      </p:sp>
      <p:sp>
        <p:nvSpPr>
          <p:cNvPr id="287" name="Google Shape;287;p9"/>
          <p:cNvSpPr txBox="1"/>
          <p:nvPr/>
        </p:nvSpPr>
        <p:spPr>
          <a:xfrm>
            <a:off x="1141412" y="2097088"/>
            <a:ext cx="9905999" cy="3917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Cin1=g0+(p0&amp;Cin0)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Cin2=g1+p1&amp;Cin1= g1+(p1&amp;g0)+ (p1&amp; 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Cin3=g2+p2&amp;Cin2= g2+(p2&amp;g1)+(p2&amp;p1&amp;g0)+(p2&amp;p1&amp;p0&amp;Cin0)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Cin4=g3+p3&amp;Cin3=g3+(p3&amp;g2)+(p3&amp;p2&amp;g1) +(p3&amp; p2&amp;p1&amp;g0 ) +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                              (p3&amp;p2&amp;p1&amp;p0&amp;Cin0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10"/>
          <p:cNvPicPr preferRelativeResize="0"/>
          <p:nvPr/>
        </p:nvPicPr>
        <p:blipFill rotWithShape="1">
          <a:blip r:embed="rId3">
            <a:alphaModFix/>
          </a:blip>
          <a:srcRect b="20001" l="7641" r="12747" t="39999"/>
          <a:stretch/>
        </p:blipFill>
        <p:spPr>
          <a:xfrm>
            <a:off x="2725271" y="2097088"/>
            <a:ext cx="6131859" cy="3251904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4-BIT  LOOK-AHEAD ADDERS(3/3)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VERILOG 程式碼</a:t>
            </a:r>
            <a:r>
              <a:rPr lang="en-US"/>
              <a:t>(1/2)</a:t>
            </a:r>
            <a:r>
              <a:rPr b="0" i="0" lang="en-US"/>
              <a:t> </a:t>
            </a:r>
            <a:r>
              <a:rPr lang="en-US"/>
              <a:t>ADD.V檔</a:t>
            </a:r>
            <a:endParaRPr/>
          </a:p>
        </p:txBody>
      </p:sp>
      <p:pic>
        <p:nvPicPr>
          <p:cNvPr id="299" name="Google Shape;299;p11"/>
          <p:cNvPicPr preferRelativeResize="0"/>
          <p:nvPr/>
        </p:nvPicPr>
        <p:blipFill rotWithShape="1">
          <a:blip r:embed="rId3">
            <a:alphaModFix/>
          </a:blip>
          <a:srcRect b="39207" l="0" r="29291" t="0"/>
          <a:stretch/>
        </p:blipFill>
        <p:spPr>
          <a:xfrm>
            <a:off x="1141413" y="1742246"/>
            <a:ext cx="8785861" cy="40522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VERILOG 程式碼(2/2) </a:t>
            </a:r>
            <a:r>
              <a:rPr lang="en-US"/>
              <a:t>ADD_TB.V檔</a:t>
            </a:r>
            <a:endParaRPr/>
          </a:p>
        </p:txBody>
      </p:sp>
      <p:pic>
        <p:nvPicPr>
          <p:cNvPr id="305" name="Google Shape;30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1425" y="1782175"/>
            <a:ext cx="7211350" cy="4621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b="0" i="0" lang="en-US"/>
              <a:t>WAVEFORM</a:t>
            </a:r>
            <a:endParaRPr/>
          </a:p>
        </p:txBody>
      </p:sp>
      <p:pic>
        <p:nvPicPr>
          <p:cNvPr id="311" name="Google Shape;311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9144" l="0" r="0" t="0"/>
          <a:stretch/>
        </p:blipFill>
        <p:spPr>
          <a:xfrm>
            <a:off x="600846" y="2222920"/>
            <a:ext cx="10987131" cy="387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"/>
          <p:cNvSpPr txBox="1"/>
          <p:nvPr>
            <p:ph type="title"/>
          </p:nvPr>
        </p:nvSpPr>
        <p:spPr>
          <a:xfrm>
            <a:off x="1141413" y="645412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wentieth Century"/>
              <a:buNone/>
            </a:pPr>
            <a:r>
              <a:rPr b="0" i="0" lang="en-US"/>
              <a:t>4-BIT CARRY LOOK-AHEAD ADDERS</a:t>
            </a:r>
            <a:br>
              <a:rPr b="0" i="0" lang="en-US"/>
            </a:br>
            <a:r>
              <a:rPr b="0" i="0" lang="en-US"/>
              <a:t>VS</a:t>
            </a:r>
            <a:br>
              <a:rPr b="0" i="0" lang="en-US"/>
            </a:br>
            <a:r>
              <a:rPr lang="en-US"/>
              <a:t>4-BIT FULL ADDER</a:t>
            </a:r>
            <a:br>
              <a:rPr b="0" i="0" lang="en-US"/>
            </a:br>
            <a:endParaRPr/>
          </a:p>
        </p:txBody>
      </p:sp>
      <p:pic>
        <p:nvPicPr>
          <p:cNvPr id="317" name="Google Shape;317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001" l="7641" r="12747" t="39999"/>
          <a:stretch/>
        </p:blipFill>
        <p:spPr>
          <a:xfrm>
            <a:off x="1538756" y="2831321"/>
            <a:ext cx="3748297" cy="1987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4561" y="2899464"/>
            <a:ext cx="5222669" cy="19196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皇冠图片_皇冠素材_皇冠高清图片_摄图网图片下载" id="319" name="Google Shape;31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1294513">
            <a:off x="677955" y="1877721"/>
            <a:ext cx="2043486" cy="2043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感想</a:t>
            </a:r>
            <a:endParaRPr/>
          </a:p>
        </p:txBody>
      </p:sp>
      <p:sp>
        <p:nvSpPr>
          <p:cNvPr id="325" name="Google Shape;325;p15"/>
          <p:cNvSpPr txBox="1"/>
          <p:nvPr>
            <p:ph idx="1" type="body"/>
          </p:nvPr>
        </p:nvSpPr>
        <p:spPr>
          <a:xfrm>
            <a:off x="1141412" y="19446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25000"/>
              <a:buChar char="•"/>
            </a:pPr>
            <a:r>
              <a:rPr lang="en-US"/>
              <a:t>這學期中可以學到硬體描述語言，不用靠以往實際接線完成電路，十分方便，但是在方便的背後有些容易犯錯的地方，例如語法，邏輯…等，每一次做LAB都會有學長幫我debug也會教我一些觀念讓我學到滿多技巧，謝謝他們的指導，也謝謝老師可以提供這個環境讓我們有機會學到這個領域，雖然我們做的只是一開始較為簡單的地方，但是在這個過程讓我喜歡上這堂課，我也不排斥踏入這個領域，希望未來還有機會可以學到相關更艱深的知識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"/>
          <p:cNvSpPr txBox="1"/>
          <p:nvPr>
            <p:ph idx="1" type="body"/>
          </p:nvPr>
        </p:nvSpPr>
        <p:spPr>
          <a:xfrm>
            <a:off x="4139700" y="258365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250"/>
              <a:buNone/>
            </a:pPr>
            <a:r>
              <a:rPr lang="en-US" sz="6600"/>
              <a:t>謝謝大家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電路">
  <a:themeElements>
    <a:clrScheme name="Circuit">
      <a:dk1>
        <a:srgbClr val="000000"/>
      </a:dk1>
      <a:lt1>
        <a:srgbClr val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2021-06-14T14:24:03Z</dcterms:created>
  <dc:creator>凱翔 游</dc:creator>
</cp:coreProperties>
</file>