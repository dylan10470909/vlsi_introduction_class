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gu49YDDcKbFUk1h5pu9vYMRLuF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showMasterSp="0" type="title">
  <p:cSld name="TITLE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53" name="Google Shape;53;p16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" name="Google Shape;54;p16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</p:grpSpPr>
        <p:sp>
          <p:nvSpPr>
            <p:cNvPr id="55" name="Google Shape;55;p16"/>
            <p:cNvSpPr/>
            <p:nvPr/>
          </p:nvSpPr>
          <p:spPr>
            <a:xfrm>
              <a:off x="1209675" y="4763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6"/>
            <p:cNvSpPr/>
            <p:nvPr/>
          </p:nvSpPr>
          <p:spPr>
            <a:xfrm>
              <a:off x="1128713" y="21764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6"/>
            <p:cNvSpPr/>
            <p:nvPr/>
          </p:nvSpPr>
          <p:spPr>
            <a:xfrm>
              <a:off x="1123950" y="4021138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6"/>
            <p:cNvSpPr/>
            <p:nvPr/>
          </p:nvSpPr>
          <p:spPr>
            <a:xfrm>
              <a:off x="414338" y="9525"/>
              <a:ext cx="28575" cy="4481513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6"/>
            <p:cNvSpPr/>
            <p:nvPr/>
          </p:nvSpPr>
          <p:spPr>
            <a:xfrm>
              <a:off x="333375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6"/>
            <p:cNvSpPr/>
            <p:nvPr/>
          </p:nvSpPr>
          <p:spPr>
            <a:xfrm>
              <a:off x="190500" y="9525"/>
              <a:ext cx="152400" cy="908050"/>
            </a:xfrm>
            <a:custGeom>
              <a:rect b="b" l="l" r="r" t="t"/>
              <a:pathLst>
                <a:path extrusionOk="0" h="572" w="96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1" name="Google Shape;61;p16"/>
            <p:cNvSpPr/>
            <p:nvPr/>
          </p:nvSpPr>
          <p:spPr>
            <a:xfrm>
              <a:off x="1290638" y="14288"/>
              <a:ext cx="376238" cy="1801813"/>
            </a:xfrm>
            <a:custGeom>
              <a:rect b="b" l="l" r="r" t="t"/>
              <a:pathLst>
                <a:path extrusionOk="0" h="1135" w="237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2" name="Google Shape;62;p16"/>
            <p:cNvSpPr/>
            <p:nvPr/>
          </p:nvSpPr>
          <p:spPr>
            <a:xfrm>
              <a:off x="1600200" y="180181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6"/>
            <p:cNvSpPr/>
            <p:nvPr/>
          </p:nvSpPr>
          <p:spPr>
            <a:xfrm>
              <a:off x="1381125" y="9525"/>
              <a:ext cx="371475" cy="1425575"/>
            </a:xfrm>
            <a:custGeom>
              <a:rect b="b" l="l" r="r" t="t"/>
              <a:pathLst>
                <a:path extrusionOk="0" h="898" w="234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4" name="Google Shape;64;p16"/>
            <p:cNvSpPr/>
            <p:nvPr/>
          </p:nvSpPr>
          <p:spPr>
            <a:xfrm>
              <a:off x="1643063" y="0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5" name="Google Shape;65;p16"/>
            <p:cNvSpPr/>
            <p:nvPr/>
          </p:nvSpPr>
          <p:spPr>
            <a:xfrm>
              <a:off x="1685925" y="14208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6"/>
            <p:cNvSpPr/>
            <p:nvPr/>
          </p:nvSpPr>
          <p:spPr>
            <a:xfrm>
              <a:off x="168592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6"/>
            <p:cNvSpPr/>
            <p:nvPr/>
          </p:nvSpPr>
          <p:spPr>
            <a:xfrm>
              <a:off x="1743075" y="4763"/>
              <a:ext cx="419100" cy="522288"/>
            </a:xfrm>
            <a:custGeom>
              <a:rect b="b" l="l" r="r" t="t"/>
              <a:pathLst>
                <a:path extrusionOk="0" h="329" w="264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8" name="Google Shape;68;p16"/>
            <p:cNvSpPr/>
            <p:nvPr/>
          </p:nvSpPr>
          <p:spPr>
            <a:xfrm>
              <a:off x="2119313" y="488950"/>
              <a:ext cx="161925" cy="147638"/>
            </a:xfrm>
            <a:custGeom>
              <a:rect b="b" l="l" r="r" t="t"/>
              <a:pathLst>
                <a:path extrusionOk="0" h="31" w="34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6"/>
            <p:cNvSpPr/>
            <p:nvPr/>
          </p:nvSpPr>
          <p:spPr>
            <a:xfrm>
              <a:off x="952500" y="4763"/>
              <a:ext cx="152400" cy="908050"/>
            </a:xfrm>
            <a:custGeom>
              <a:rect b="b" l="l" r="r" t="t"/>
              <a:pathLst>
                <a:path extrusionOk="0" h="572" w="96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0" name="Google Shape;70;p16"/>
            <p:cNvSpPr/>
            <p:nvPr/>
          </p:nvSpPr>
          <p:spPr>
            <a:xfrm>
              <a:off x="86677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6"/>
            <p:cNvSpPr/>
            <p:nvPr/>
          </p:nvSpPr>
          <p:spPr>
            <a:xfrm>
              <a:off x="890588" y="15541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6"/>
            <p:cNvSpPr/>
            <p:nvPr/>
          </p:nvSpPr>
          <p:spPr>
            <a:xfrm>
              <a:off x="738188" y="5622925"/>
              <a:ext cx="338138" cy="1216025"/>
            </a:xfrm>
            <a:custGeom>
              <a:rect b="b" l="l" r="r" t="t"/>
              <a:pathLst>
                <a:path extrusionOk="0" h="766" w="213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3" name="Google Shape;73;p16"/>
            <p:cNvSpPr/>
            <p:nvPr/>
          </p:nvSpPr>
          <p:spPr>
            <a:xfrm>
              <a:off x="647700" y="5480050"/>
              <a:ext cx="157163" cy="157163"/>
            </a:xfrm>
            <a:custGeom>
              <a:rect b="b" l="l" r="r" t="t"/>
              <a:pathLst>
                <a:path extrusionOk="0" h="33" w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6"/>
            <p:cNvSpPr/>
            <p:nvPr/>
          </p:nvSpPr>
          <p:spPr>
            <a:xfrm>
              <a:off x="6667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6"/>
            <p:cNvSpPr/>
            <p:nvPr/>
          </p:nvSpPr>
          <p:spPr>
            <a:xfrm>
              <a:off x="0" y="3897313"/>
              <a:ext cx="133350" cy="266700"/>
            </a:xfrm>
            <a:custGeom>
              <a:rect b="b" l="l" r="r" t="t"/>
              <a:pathLst>
                <a:path extrusionOk="0" h="168" w="84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6" name="Google Shape;76;p16"/>
            <p:cNvSpPr/>
            <p:nvPr/>
          </p:nvSpPr>
          <p:spPr>
            <a:xfrm>
              <a:off x="66675" y="414972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6"/>
            <p:cNvSpPr/>
            <p:nvPr/>
          </p:nvSpPr>
          <p:spPr>
            <a:xfrm>
              <a:off x="0" y="1644650"/>
              <a:ext cx="133350" cy="269875"/>
            </a:xfrm>
            <a:custGeom>
              <a:rect b="b" l="l" r="r" t="t"/>
              <a:pathLst>
                <a:path extrusionOk="0" h="170" w="84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8" name="Google Shape;78;p16"/>
            <p:cNvSpPr/>
            <p:nvPr/>
          </p:nvSpPr>
          <p:spPr>
            <a:xfrm>
              <a:off x="66675" y="146843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6"/>
            <p:cNvSpPr/>
            <p:nvPr/>
          </p:nvSpPr>
          <p:spPr>
            <a:xfrm>
              <a:off x="695325" y="4763"/>
              <a:ext cx="309563" cy="1558925"/>
            </a:xfrm>
            <a:custGeom>
              <a:rect b="b" l="l" r="r" t="t"/>
              <a:pathLst>
                <a:path extrusionOk="0" h="982" w="195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0" name="Google Shape;80;p16"/>
            <p:cNvSpPr/>
            <p:nvPr/>
          </p:nvSpPr>
          <p:spPr>
            <a:xfrm>
              <a:off x="57150" y="48815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6"/>
            <p:cNvSpPr/>
            <p:nvPr/>
          </p:nvSpPr>
          <p:spPr>
            <a:xfrm>
              <a:off x="138113" y="5060950"/>
              <a:ext cx="304800" cy="1778000"/>
            </a:xfrm>
            <a:custGeom>
              <a:rect b="b" l="l" r="r" t="t"/>
              <a:pathLst>
                <a:path extrusionOk="0" h="1120" w="192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2" name="Google Shape;82;p16"/>
            <p:cNvSpPr/>
            <p:nvPr/>
          </p:nvSpPr>
          <p:spPr>
            <a:xfrm>
              <a:off x="561975" y="64309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6"/>
            <p:cNvSpPr/>
            <p:nvPr/>
          </p:nvSpPr>
          <p:spPr>
            <a:xfrm>
              <a:off x="642938" y="6610350"/>
              <a:ext cx="23813" cy="242888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6"/>
            <p:cNvSpPr/>
            <p:nvPr/>
          </p:nvSpPr>
          <p:spPr>
            <a:xfrm>
              <a:off x="76200" y="64309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6"/>
            <p:cNvSpPr/>
            <p:nvPr/>
          </p:nvSpPr>
          <p:spPr>
            <a:xfrm>
              <a:off x="0" y="5978525"/>
              <a:ext cx="190500" cy="461963"/>
            </a:xfrm>
            <a:custGeom>
              <a:rect b="b" l="l" r="r" t="t"/>
              <a:pathLst>
                <a:path extrusionOk="0" h="291" w="120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6" name="Google Shape;86;p16"/>
            <p:cNvSpPr/>
            <p:nvPr/>
          </p:nvSpPr>
          <p:spPr>
            <a:xfrm>
              <a:off x="1014413" y="1801813"/>
              <a:ext cx="214313" cy="755650"/>
            </a:xfrm>
            <a:custGeom>
              <a:rect b="b" l="l" r="r" t="t"/>
              <a:pathLst>
                <a:path extrusionOk="0" h="476" w="135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7" name="Google Shape;87;p16"/>
            <p:cNvSpPr/>
            <p:nvPr/>
          </p:nvSpPr>
          <p:spPr>
            <a:xfrm>
              <a:off x="938213" y="2547938"/>
              <a:ext cx="166688" cy="160338"/>
            </a:xfrm>
            <a:custGeom>
              <a:rect b="b" l="l" r="r" t="t"/>
              <a:pathLst>
                <a:path extrusionOk="0" h="34" w="35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6"/>
            <p:cNvSpPr/>
            <p:nvPr/>
          </p:nvSpPr>
          <p:spPr>
            <a:xfrm>
              <a:off x="595313" y="4763"/>
              <a:ext cx="638175" cy="4025900"/>
            </a:xfrm>
            <a:custGeom>
              <a:rect b="b" l="l" r="r" t="t"/>
              <a:pathLst>
                <a:path extrusionOk="0" h="2536" w="402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9" name="Google Shape;89;p16"/>
            <p:cNvSpPr/>
            <p:nvPr/>
          </p:nvSpPr>
          <p:spPr>
            <a:xfrm>
              <a:off x="1223963" y="1382713"/>
              <a:ext cx="142875" cy="476250"/>
            </a:xfrm>
            <a:custGeom>
              <a:rect b="b" l="l" r="r" t="t"/>
              <a:pathLst>
                <a:path extrusionOk="0" h="300" w="9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0" name="Google Shape;90;p16"/>
            <p:cNvSpPr/>
            <p:nvPr/>
          </p:nvSpPr>
          <p:spPr>
            <a:xfrm>
              <a:off x="1300163" y="1849438"/>
              <a:ext cx="109538" cy="107950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6"/>
            <p:cNvSpPr/>
            <p:nvPr/>
          </p:nvSpPr>
          <p:spPr>
            <a:xfrm>
              <a:off x="280988" y="3417888"/>
              <a:ext cx="142875" cy="474663"/>
            </a:xfrm>
            <a:custGeom>
              <a:rect b="b" l="l" r="r" t="t"/>
              <a:pathLst>
                <a:path extrusionOk="0" h="299" w="90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2" name="Google Shape;92;p16"/>
            <p:cNvSpPr/>
            <p:nvPr/>
          </p:nvSpPr>
          <p:spPr>
            <a:xfrm>
              <a:off x="238125" y="3883025"/>
              <a:ext cx="109538" cy="109538"/>
            </a:xfrm>
            <a:custGeom>
              <a:rect b="b" l="l" r="r" t="t"/>
              <a:pathLst>
                <a:path extrusionOk="0" h="23" w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6"/>
            <p:cNvSpPr/>
            <p:nvPr/>
          </p:nvSpPr>
          <p:spPr>
            <a:xfrm>
              <a:off x="4763" y="2166938"/>
              <a:ext cx="114300" cy="452438"/>
            </a:xfrm>
            <a:custGeom>
              <a:rect b="b" l="l" r="r" t="t"/>
              <a:pathLst>
                <a:path extrusionOk="0" h="285" w="72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4" name="Google Shape;94;p16"/>
            <p:cNvSpPr/>
            <p:nvPr/>
          </p:nvSpPr>
          <p:spPr>
            <a:xfrm>
              <a:off x="52388" y="2066925"/>
              <a:ext cx="109538" cy="109538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6"/>
            <p:cNvSpPr/>
            <p:nvPr/>
          </p:nvSpPr>
          <p:spPr>
            <a:xfrm>
              <a:off x="1228725" y="4662488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6"/>
            <p:cNvSpPr/>
            <p:nvPr/>
          </p:nvSpPr>
          <p:spPr>
            <a:xfrm>
              <a:off x="1319213" y="5041900"/>
              <a:ext cx="371475" cy="1801813"/>
            </a:xfrm>
            <a:custGeom>
              <a:rect b="b" l="l" r="r" t="t"/>
              <a:pathLst>
                <a:path extrusionOk="0" h="1135" w="234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7" name="Google Shape;97;p16"/>
            <p:cNvSpPr/>
            <p:nvPr/>
          </p:nvSpPr>
          <p:spPr>
            <a:xfrm>
              <a:off x="1147763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6"/>
            <p:cNvSpPr/>
            <p:nvPr/>
          </p:nvSpPr>
          <p:spPr>
            <a:xfrm>
              <a:off x="819150" y="3983038"/>
              <a:ext cx="347663" cy="2860675"/>
            </a:xfrm>
            <a:custGeom>
              <a:rect b="b" l="l" r="r" t="t"/>
              <a:pathLst>
                <a:path extrusionOk="0" h="1802" w="219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9" name="Google Shape;99;p16"/>
            <p:cNvSpPr/>
            <p:nvPr/>
          </p:nvSpPr>
          <p:spPr>
            <a:xfrm>
              <a:off x="728663" y="3806825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1624013" y="486727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1404938" y="5422900"/>
              <a:ext cx="371475" cy="1425575"/>
            </a:xfrm>
            <a:custGeom>
              <a:rect b="b" l="l" r="r" t="t"/>
              <a:pathLst>
                <a:path extrusionOk="0" h="898" w="234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2" name="Google Shape;102;p16"/>
            <p:cNvSpPr/>
            <p:nvPr/>
          </p:nvSpPr>
          <p:spPr>
            <a:xfrm>
              <a:off x="1666875" y="5945188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3" name="Google Shape;103;p16"/>
            <p:cNvSpPr/>
            <p:nvPr/>
          </p:nvSpPr>
          <p:spPr>
            <a:xfrm>
              <a:off x="1709738" y="52466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1709738" y="57642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1766888" y="6330950"/>
              <a:ext cx="419100" cy="527050"/>
            </a:xfrm>
            <a:custGeom>
              <a:rect b="b" l="l" r="r" t="t"/>
              <a:pathLst>
                <a:path extrusionOk="0" h="332" w="264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6" name="Google Shape;106;p16"/>
            <p:cNvSpPr/>
            <p:nvPr/>
          </p:nvSpPr>
          <p:spPr>
            <a:xfrm>
              <a:off x="2147888" y="6221413"/>
              <a:ext cx="157163" cy="147638"/>
            </a:xfrm>
            <a:custGeom>
              <a:rect b="b" l="l" r="r" t="t"/>
              <a:pathLst>
                <a:path extrusionOk="0" h="31" w="33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504825" y="9525"/>
              <a:ext cx="233363" cy="5103813"/>
            </a:xfrm>
            <a:custGeom>
              <a:rect b="b" l="l" r="r" t="t"/>
              <a:pathLst>
                <a:path extrusionOk="0" h="3215" w="147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8" name="Google Shape;108;p16"/>
            <p:cNvSpPr/>
            <p:nvPr/>
          </p:nvSpPr>
          <p:spPr>
            <a:xfrm>
              <a:off x="633413" y="5103813"/>
              <a:ext cx="185738" cy="185738"/>
            </a:xfrm>
            <a:custGeom>
              <a:rect b="b" l="l" r="r" t="t"/>
              <a:pathLst>
                <a:path extrusionOk="0" h="39" w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16"/>
          <p:cNvSpPr txBox="1"/>
          <p:nvPr>
            <p:ph type="ctrTitle"/>
          </p:nvPr>
        </p:nvSpPr>
        <p:spPr>
          <a:xfrm>
            <a:off x="1876424" y="1122363"/>
            <a:ext cx="8791575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6"/>
          <p:cNvSpPr txBox="1"/>
          <p:nvPr>
            <p:ph idx="1" type="subTitle"/>
          </p:nvPr>
        </p:nvSpPr>
        <p:spPr>
          <a:xfrm>
            <a:off x="1876424" y="3602038"/>
            <a:ext cx="8791575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000" cap="none">
                <a:solidFill>
                  <a:schemeClr val="lt2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9pPr>
          </a:lstStyle>
          <a:p/>
        </p:txBody>
      </p:sp>
      <p:sp>
        <p:nvSpPr>
          <p:cNvPr id="111" name="Google Shape;111;p16"/>
          <p:cNvSpPr txBox="1"/>
          <p:nvPr>
            <p:ph idx="10" type="dt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6"/>
          <p:cNvSpPr txBox="1"/>
          <p:nvPr>
            <p:ph idx="11" type="ftr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6"/>
          <p:cNvSpPr txBox="1"/>
          <p:nvPr>
            <p:ph idx="12" type="sldNum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17" name="Google Shape;117;p17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7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7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1141411" y="1419226"/>
            <a:ext cx="99060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8"/>
          <p:cNvSpPr txBox="1"/>
          <p:nvPr>
            <p:ph idx="1" type="body"/>
          </p:nvPr>
        </p:nvSpPr>
        <p:spPr>
          <a:xfrm>
            <a:off x="1141411" y="4424362"/>
            <a:ext cx="9906000" cy="137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18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8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8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1141410" y="2249486"/>
            <a:ext cx="487838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29" name="Google Shape;129;p19"/>
          <p:cNvSpPr txBox="1"/>
          <p:nvPr>
            <p:ph idx="2" type="body"/>
          </p:nvPr>
        </p:nvSpPr>
        <p:spPr>
          <a:xfrm>
            <a:off x="6172200" y="2249486"/>
            <a:ext cx="4875211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0" name="Google Shape;130;p19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9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9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1141411" y="619126"/>
            <a:ext cx="9906000" cy="1477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1370019" y="2249486"/>
            <a:ext cx="4649783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36" name="Google Shape;136;p20"/>
          <p:cNvSpPr txBox="1"/>
          <p:nvPr>
            <p:ph idx="2" type="body"/>
          </p:nvPr>
        </p:nvSpPr>
        <p:spPr>
          <a:xfrm>
            <a:off x="1141410" y="3073397"/>
            <a:ext cx="4878391" cy="2717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7" name="Google Shape;137;p20"/>
          <p:cNvSpPr txBox="1"/>
          <p:nvPr>
            <p:ph idx="3" type="body"/>
          </p:nvPr>
        </p:nvSpPr>
        <p:spPr>
          <a:xfrm>
            <a:off x="6400808" y="2249485"/>
            <a:ext cx="464660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38" name="Google Shape;138;p20"/>
          <p:cNvSpPr txBox="1"/>
          <p:nvPr>
            <p:ph idx="4" type="body"/>
          </p:nvPr>
        </p:nvSpPr>
        <p:spPr>
          <a:xfrm>
            <a:off x="6172200" y="3073397"/>
            <a:ext cx="4875210" cy="2717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9" name="Google Shape;139;p20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0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1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1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2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2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1146705" y="609601"/>
            <a:ext cx="3856037" cy="16398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3"/>
          <p:cNvSpPr txBox="1"/>
          <p:nvPr>
            <p:ph idx="1" type="body"/>
          </p:nvPr>
        </p:nvSpPr>
        <p:spPr>
          <a:xfrm>
            <a:off x="5156200" y="592666"/>
            <a:ext cx="5891209" cy="51985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54" name="Google Shape;154;p23"/>
          <p:cNvSpPr txBox="1"/>
          <p:nvPr>
            <p:ph idx="2" type="body"/>
          </p:nvPr>
        </p:nvSpPr>
        <p:spPr>
          <a:xfrm>
            <a:off x="1146705" y="2249486"/>
            <a:ext cx="3856037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55" name="Google Shape;155;p23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3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3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title"/>
          </p:nvPr>
        </p:nvSpPr>
        <p:spPr>
          <a:xfrm>
            <a:off x="1141413" y="609600"/>
            <a:ext cx="5934508" cy="16398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4"/>
          <p:cNvSpPr/>
          <p:nvPr>
            <p:ph idx="2" type="pic"/>
          </p:nvPr>
        </p:nvSpPr>
        <p:spPr>
          <a:xfrm>
            <a:off x="7380721" y="609601"/>
            <a:ext cx="3666690" cy="5181599"/>
          </a:xfrm>
          <a:prstGeom prst="round2DiagRect">
            <a:avLst>
              <a:gd fmla="val 5608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1141410" y="2249486"/>
            <a:ext cx="5934511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62" name="Google Shape;162;p24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4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4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全景圖片 (含輔助字幕)">
  <p:cSld name="全景圖片 (含輔助字幕)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type="title"/>
          </p:nvPr>
        </p:nvSpPr>
        <p:spPr>
          <a:xfrm>
            <a:off x="1141410" y="4304664"/>
            <a:ext cx="9912355" cy="8193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5"/>
          <p:cNvSpPr/>
          <p:nvPr>
            <p:ph idx="2" type="pic"/>
          </p:nvPr>
        </p:nvSpPr>
        <p:spPr>
          <a:xfrm>
            <a:off x="1141411" y="606426"/>
            <a:ext cx="9912354" cy="3299778"/>
          </a:xfrm>
          <a:prstGeom prst="round2DiagRect">
            <a:avLst>
              <a:gd fmla="val 4860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168" name="Google Shape;168;p25"/>
          <p:cNvSpPr txBox="1"/>
          <p:nvPr>
            <p:ph idx="1" type="body"/>
          </p:nvPr>
        </p:nvSpPr>
        <p:spPr>
          <a:xfrm>
            <a:off x="1141364" y="5124020"/>
            <a:ext cx="9910859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69" name="Google Shape;169;p25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25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5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與輔助字幕">
  <p:cSld name="標題與輔助字幕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type="title"/>
          </p:nvPr>
        </p:nvSpPr>
        <p:spPr>
          <a:xfrm>
            <a:off x="1141456" y="609600"/>
            <a:ext cx="9905955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26"/>
          <p:cNvSpPr txBox="1"/>
          <p:nvPr>
            <p:ph idx="1" type="body"/>
          </p:nvPr>
        </p:nvSpPr>
        <p:spPr>
          <a:xfrm>
            <a:off x="1141410" y="4419599"/>
            <a:ext cx="9904459" cy="1371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75" name="Google Shape;175;p26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6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6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引述 (含輔助字幕)">
  <p:cSld name="引述 (含輔助字幕)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>
            <p:ph type="title"/>
          </p:nvPr>
        </p:nvSpPr>
        <p:spPr>
          <a:xfrm>
            <a:off x="1446212" y="609599"/>
            <a:ext cx="9302752" cy="2748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7"/>
          <p:cNvSpPr txBox="1"/>
          <p:nvPr>
            <p:ph idx="1" type="body"/>
          </p:nvPr>
        </p:nvSpPr>
        <p:spPr>
          <a:xfrm>
            <a:off x="1720644" y="3365557"/>
            <a:ext cx="8752299" cy="548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81" name="Google Shape;181;p27"/>
          <p:cNvSpPr txBox="1"/>
          <p:nvPr>
            <p:ph idx="2" type="body"/>
          </p:nvPr>
        </p:nvSpPr>
        <p:spPr>
          <a:xfrm>
            <a:off x="1141411" y="4309919"/>
            <a:ext cx="9906002" cy="148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82" name="Google Shape;182;p27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7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7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p27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b="0" lang="en-US" sz="8000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186" name="Google Shape;186;p27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b="0" lang="en-US" sz="8000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名片">
  <p:cSld name="名片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/>
          <p:nvPr>
            <p:ph type="title"/>
          </p:nvPr>
        </p:nvSpPr>
        <p:spPr>
          <a:xfrm>
            <a:off x="1141410" y="2134041"/>
            <a:ext cx="9906001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8"/>
          <p:cNvSpPr txBox="1"/>
          <p:nvPr>
            <p:ph idx="1" type="body"/>
          </p:nvPr>
        </p:nvSpPr>
        <p:spPr>
          <a:xfrm>
            <a:off x="1141364" y="4657655"/>
            <a:ext cx="9904505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90" name="Google Shape;190;p28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8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8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欄">
  <p:cSld name="3 欄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/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29"/>
          <p:cNvSpPr txBox="1"/>
          <p:nvPr>
            <p:ph idx="1" type="body"/>
          </p:nvPr>
        </p:nvSpPr>
        <p:spPr>
          <a:xfrm>
            <a:off x="1141410" y="2674463"/>
            <a:ext cx="31968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96" name="Google Shape;196;p29"/>
          <p:cNvSpPr txBox="1"/>
          <p:nvPr>
            <p:ph idx="2" type="body"/>
          </p:nvPr>
        </p:nvSpPr>
        <p:spPr>
          <a:xfrm>
            <a:off x="1127918" y="3360263"/>
            <a:ext cx="3208735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197" name="Google Shape;197;p29"/>
          <p:cNvSpPr txBox="1"/>
          <p:nvPr>
            <p:ph idx="3" type="body"/>
          </p:nvPr>
        </p:nvSpPr>
        <p:spPr>
          <a:xfrm>
            <a:off x="4514766" y="2677635"/>
            <a:ext cx="3184385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98" name="Google Shape;198;p29"/>
          <p:cNvSpPr txBox="1"/>
          <p:nvPr>
            <p:ph idx="4" type="body"/>
          </p:nvPr>
        </p:nvSpPr>
        <p:spPr>
          <a:xfrm>
            <a:off x="4504213" y="3363435"/>
            <a:ext cx="3195830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199" name="Google Shape;199;p29"/>
          <p:cNvSpPr txBox="1"/>
          <p:nvPr>
            <p:ph idx="5" type="body"/>
          </p:nvPr>
        </p:nvSpPr>
        <p:spPr>
          <a:xfrm>
            <a:off x="7852442" y="2674463"/>
            <a:ext cx="3194968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00" name="Google Shape;200;p29"/>
          <p:cNvSpPr txBox="1"/>
          <p:nvPr>
            <p:ph idx="6" type="body"/>
          </p:nvPr>
        </p:nvSpPr>
        <p:spPr>
          <a:xfrm>
            <a:off x="7852442" y="3360263"/>
            <a:ext cx="3194968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01" name="Google Shape;201;p29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29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29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圖片欄">
  <p:cSld name="3 圖片欄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/>
          <p:nvPr>
            <p:ph type="title"/>
          </p:nvPr>
        </p:nvSpPr>
        <p:spPr>
          <a:xfrm>
            <a:off x="1141411" y="609600"/>
            <a:ext cx="9905999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30"/>
          <p:cNvSpPr txBox="1"/>
          <p:nvPr>
            <p:ph idx="1" type="body"/>
          </p:nvPr>
        </p:nvSpPr>
        <p:spPr>
          <a:xfrm>
            <a:off x="1141413" y="4404596"/>
            <a:ext cx="3195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07" name="Google Shape;207;p30"/>
          <p:cNvSpPr/>
          <p:nvPr>
            <p:ph idx="2" type="pic"/>
          </p:nvPr>
        </p:nvSpPr>
        <p:spPr>
          <a:xfrm>
            <a:off x="1141413" y="2666998"/>
            <a:ext cx="3195240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08" name="Google Shape;208;p30"/>
          <p:cNvSpPr txBox="1"/>
          <p:nvPr>
            <p:ph idx="3" type="body"/>
          </p:nvPr>
        </p:nvSpPr>
        <p:spPr>
          <a:xfrm>
            <a:off x="1141413" y="4980858"/>
            <a:ext cx="3195240" cy="817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09" name="Google Shape;209;p30"/>
          <p:cNvSpPr txBox="1"/>
          <p:nvPr>
            <p:ph idx="4" type="body"/>
          </p:nvPr>
        </p:nvSpPr>
        <p:spPr>
          <a:xfrm>
            <a:off x="4489053" y="4404596"/>
            <a:ext cx="32004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10" name="Google Shape;210;p30"/>
          <p:cNvSpPr/>
          <p:nvPr>
            <p:ph idx="5" type="pic"/>
          </p:nvPr>
        </p:nvSpPr>
        <p:spPr>
          <a:xfrm>
            <a:off x="4489053" y="2666998"/>
            <a:ext cx="3198940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11" name="Google Shape;211;p30"/>
          <p:cNvSpPr txBox="1"/>
          <p:nvPr>
            <p:ph idx="6" type="body"/>
          </p:nvPr>
        </p:nvSpPr>
        <p:spPr>
          <a:xfrm>
            <a:off x="4487593" y="4980857"/>
            <a:ext cx="3200400" cy="8103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12" name="Google Shape;212;p30"/>
          <p:cNvSpPr txBox="1"/>
          <p:nvPr>
            <p:ph idx="7" type="body"/>
          </p:nvPr>
        </p:nvSpPr>
        <p:spPr>
          <a:xfrm>
            <a:off x="7852567" y="4404595"/>
            <a:ext cx="319074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13" name="Google Shape;213;p30"/>
          <p:cNvSpPr/>
          <p:nvPr>
            <p:ph idx="8" type="pic"/>
          </p:nvPr>
        </p:nvSpPr>
        <p:spPr>
          <a:xfrm>
            <a:off x="7852442" y="2666998"/>
            <a:ext cx="3194969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14" name="Google Shape;214;p30"/>
          <p:cNvSpPr txBox="1"/>
          <p:nvPr>
            <p:ph idx="9" type="body"/>
          </p:nvPr>
        </p:nvSpPr>
        <p:spPr>
          <a:xfrm>
            <a:off x="7852442" y="4980854"/>
            <a:ext cx="3194968" cy="8103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15" name="Google Shape;215;p30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30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0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31"/>
          <p:cNvSpPr txBox="1"/>
          <p:nvPr>
            <p:ph idx="1" type="body"/>
          </p:nvPr>
        </p:nvSpPr>
        <p:spPr>
          <a:xfrm rot="5400000">
            <a:off x="4323555" y="-932655"/>
            <a:ext cx="3541714" cy="9905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21" name="Google Shape;221;p31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31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31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>
            <p:ph type="title"/>
          </p:nvPr>
        </p:nvSpPr>
        <p:spPr>
          <a:xfrm rot="5400000">
            <a:off x="7454105" y="2197894"/>
            <a:ext cx="5181601" cy="20050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2"/>
          <p:cNvSpPr txBox="1"/>
          <p:nvPr>
            <p:ph idx="1" type="body"/>
          </p:nvPr>
        </p:nvSpPr>
        <p:spPr>
          <a:xfrm rot="5400000">
            <a:off x="2424905" y="-673895"/>
            <a:ext cx="5181601" cy="77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27" name="Google Shape;227;p32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2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2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slideLayout" Target="../slideLayouts/slideLayout17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6" name="Google Shape;6;p15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oogle Shape;7;p15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8" name="Google Shape;8;p15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</p:grpSpPr>
          <p:sp>
            <p:nvSpPr>
              <p:cNvPr id="9" name="Google Shape;9;p15"/>
              <p:cNvSpPr/>
              <p:nvPr/>
            </p:nvSpPr>
            <p:spPr>
              <a:xfrm>
                <a:off x="114300" y="4763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" name="Google Shape;10;p15"/>
              <p:cNvSpPr/>
              <p:nvPr/>
            </p:nvSpPr>
            <p:spPr>
              <a:xfrm>
                <a:off x="33337" y="217646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" name="Google Shape;11;p15"/>
              <p:cNvSpPr/>
              <p:nvPr/>
            </p:nvSpPr>
            <p:spPr>
              <a:xfrm>
                <a:off x="28575" y="4021138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" name="Google Shape;12;p15"/>
              <p:cNvSpPr/>
              <p:nvPr/>
            </p:nvSpPr>
            <p:spPr>
              <a:xfrm>
                <a:off x="200025" y="4763"/>
                <a:ext cx="369888" cy="1811338"/>
              </a:xfrm>
              <a:custGeom>
                <a:rect b="b" l="l" r="r" t="t"/>
                <a:pathLst>
                  <a:path extrusionOk="0" h="1141" w="233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3" name="Google Shape;13;p15"/>
              <p:cNvSpPr/>
              <p:nvPr/>
            </p:nvSpPr>
            <p:spPr>
              <a:xfrm>
                <a:off x="503237" y="1801813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" name="Google Shape;14;p15"/>
              <p:cNvSpPr/>
              <p:nvPr/>
            </p:nvSpPr>
            <p:spPr>
              <a:xfrm>
                <a:off x="285750" y="4763"/>
                <a:ext cx="369888" cy="1430338"/>
              </a:xfrm>
              <a:custGeom>
                <a:rect b="b" l="l" r="r" t="t"/>
                <a:pathLst>
                  <a:path extrusionOk="0" h="901" w="233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5" name="Google Shape;15;p15"/>
              <p:cNvSpPr/>
              <p:nvPr/>
            </p:nvSpPr>
            <p:spPr>
              <a:xfrm>
                <a:off x="546100" y="0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6" name="Google Shape;16;p15"/>
              <p:cNvSpPr/>
              <p:nvPr/>
            </p:nvSpPr>
            <p:spPr>
              <a:xfrm>
                <a:off x="588962" y="14208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15"/>
              <p:cNvSpPr/>
              <p:nvPr/>
            </p:nvSpPr>
            <p:spPr>
              <a:xfrm>
                <a:off x="588962" y="9032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15"/>
              <p:cNvSpPr/>
              <p:nvPr/>
            </p:nvSpPr>
            <p:spPr>
              <a:xfrm>
                <a:off x="641350" y="0"/>
                <a:ext cx="422275" cy="527050"/>
              </a:xfrm>
              <a:custGeom>
                <a:rect b="b" l="l" r="r" t="t"/>
                <a:pathLst>
                  <a:path extrusionOk="0" h="332" w="266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9" name="Google Shape;19;p15"/>
              <p:cNvSpPr/>
              <p:nvPr/>
            </p:nvSpPr>
            <p:spPr>
              <a:xfrm>
                <a:off x="1020762" y="488950"/>
                <a:ext cx="161925" cy="147638"/>
              </a:xfrm>
              <a:custGeom>
                <a:rect b="b" l="l" r="r" t="t"/>
                <a:pathLst>
                  <a:path extrusionOk="0" h="31" w="34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0" name="Google Shape;20;p15"/>
              <p:cNvCxnSpPr/>
              <p:nvPr/>
            </p:nvCxnSpPr>
            <p:spPr>
              <a:xfrm>
                <a:off x="-4763" y="952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 cap="flat" cmpd="sng" w="9525">
                <a:solidFill>
                  <a:srgbClr val="FFFF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1" name="Google Shape;21;p15"/>
              <p:cNvSpPr/>
              <p:nvPr/>
            </p:nvSpPr>
            <p:spPr>
              <a:xfrm>
                <a:off x="9525" y="1801813"/>
                <a:ext cx="123825" cy="127000"/>
              </a:xfrm>
              <a:custGeom>
                <a:rect b="b" l="l" r="r" t="t"/>
                <a:pathLst>
                  <a:path extrusionOk="0" h="80" w="78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2" name="Google Shape;22;p15"/>
              <p:cNvSpPr/>
              <p:nvPr/>
            </p:nvSpPr>
            <p:spPr>
              <a:xfrm>
                <a:off x="-9525" y="3549650"/>
                <a:ext cx="147638" cy="481013"/>
              </a:xfrm>
              <a:custGeom>
                <a:rect b="b" l="l" r="r" t="t"/>
                <a:pathLst>
                  <a:path extrusionOk="0" h="303" w="9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3" name="Google Shape;23;p15"/>
              <p:cNvSpPr/>
              <p:nvPr/>
            </p:nvSpPr>
            <p:spPr>
              <a:xfrm>
                <a:off x="128587" y="1382713"/>
                <a:ext cx="142875" cy="476250"/>
              </a:xfrm>
              <a:custGeom>
                <a:rect b="b" l="l" r="r" t="t"/>
                <a:pathLst>
                  <a:path extrusionOk="0" h="300" w="9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4" name="Google Shape;24;p15"/>
              <p:cNvSpPr/>
              <p:nvPr/>
            </p:nvSpPr>
            <p:spPr>
              <a:xfrm>
                <a:off x="204787" y="1849438"/>
                <a:ext cx="114300" cy="107950"/>
              </a:xfrm>
              <a:custGeom>
                <a:rect b="b" l="l" r="r" t="t"/>
                <a:pathLst>
                  <a:path extrusionOk="0" h="23" w="24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15"/>
              <p:cNvSpPr/>
              <p:nvPr/>
            </p:nvSpPr>
            <p:spPr>
              <a:xfrm>
                <a:off x="133350" y="4662488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15"/>
              <p:cNvSpPr/>
              <p:nvPr/>
            </p:nvSpPr>
            <p:spPr>
              <a:xfrm>
                <a:off x="223837" y="5041900"/>
                <a:ext cx="369888" cy="1801813"/>
              </a:xfrm>
              <a:custGeom>
                <a:rect b="b" l="l" r="r" t="t"/>
                <a:pathLst>
                  <a:path extrusionOk="0" h="1135" w="233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7" name="Google Shape;27;p15"/>
              <p:cNvSpPr/>
              <p:nvPr/>
            </p:nvSpPr>
            <p:spPr>
              <a:xfrm>
                <a:off x="52387" y="44815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15"/>
              <p:cNvSpPr/>
              <p:nvPr/>
            </p:nvSpPr>
            <p:spPr>
              <a:xfrm>
                <a:off x="-14288" y="5627688"/>
                <a:ext cx="85725" cy="1216025"/>
              </a:xfrm>
              <a:custGeom>
                <a:rect b="b" l="l" r="r" t="t"/>
                <a:pathLst>
                  <a:path extrusionOk="0" h="766" w="54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9" name="Google Shape;29;p15"/>
              <p:cNvSpPr/>
              <p:nvPr/>
            </p:nvSpPr>
            <p:spPr>
              <a:xfrm>
                <a:off x="527050" y="48672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15"/>
              <p:cNvSpPr/>
              <p:nvPr/>
            </p:nvSpPr>
            <p:spPr>
              <a:xfrm>
                <a:off x="309562" y="5422900"/>
                <a:ext cx="374650" cy="1425575"/>
              </a:xfrm>
              <a:custGeom>
                <a:rect b="b" l="l" r="r" t="t"/>
                <a:pathLst>
                  <a:path extrusionOk="0" h="898" w="236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1" name="Google Shape;31;p15"/>
              <p:cNvSpPr/>
              <p:nvPr/>
            </p:nvSpPr>
            <p:spPr>
              <a:xfrm>
                <a:off x="569912" y="5945188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2" name="Google Shape;32;p15"/>
              <p:cNvSpPr/>
              <p:nvPr/>
            </p:nvSpPr>
            <p:spPr>
              <a:xfrm>
                <a:off x="612775" y="52466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15"/>
              <p:cNvSpPr/>
              <p:nvPr/>
            </p:nvSpPr>
            <p:spPr>
              <a:xfrm>
                <a:off x="612775" y="57642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15"/>
              <p:cNvSpPr/>
              <p:nvPr/>
            </p:nvSpPr>
            <p:spPr>
              <a:xfrm>
                <a:off x="669925" y="6330950"/>
                <a:ext cx="417513" cy="517525"/>
              </a:xfrm>
              <a:custGeom>
                <a:rect b="b" l="l" r="r" t="t"/>
                <a:pathLst>
                  <a:path extrusionOk="0" h="326" w="263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5" name="Google Shape;35;p15"/>
              <p:cNvSpPr/>
              <p:nvPr/>
            </p:nvSpPr>
            <p:spPr>
              <a:xfrm>
                <a:off x="1049337" y="6221413"/>
                <a:ext cx="157163" cy="147638"/>
              </a:xfrm>
              <a:custGeom>
                <a:rect b="b" l="l" r="r" t="t"/>
                <a:pathLst>
                  <a:path extrusionOk="0" h="31" w="33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" name="Google Shape;36;p15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</p:grpSpPr>
          <p:sp>
            <p:nvSpPr>
              <p:cNvPr id="37" name="Google Shape;37;p15"/>
              <p:cNvSpPr/>
              <p:nvPr/>
            </p:nvSpPr>
            <p:spPr>
              <a:xfrm>
                <a:off x="11483975" y="0"/>
                <a:ext cx="417513" cy="512763"/>
              </a:xfrm>
              <a:custGeom>
                <a:rect b="b" l="l" r="r" t="t"/>
                <a:pathLst>
                  <a:path extrusionOk="0" h="323" w="26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8" name="Google Shape;38;p15"/>
              <p:cNvSpPr/>
              <p:nvPr/>
            </p:nvSpPr>
            <p:spPr>
              <a:xfrm>
                <a:off x="11364912" y="474663"/>
                <a:ext cx="157163" cy="152400"/>
              </a:xfrm>
              <a:custGeom>
                <a:rect b="b" l="l" r="r" t="t"/>
                <a:pathLst>
                  <a:path extrusionOk="0" h="32" w="33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15"/>
              <p:cNvSpPr/>
              <p:nvPr/>
            </p:nvSpPr>
            <p:spPr>
              <a:xfrm>
                <a:off x="11631612" y="1539875"/>
                <a:ext cx="188913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15"/>
              <p:cNvSpPr/>
              <p:nvPr/>
            </p:nvSpPr>
            <p:spPr>
              <a:xfrm>
                <a:off x="11531600" y="5694363"/>
                <a:ext cx="298450" cy="1154113"/>
              </a:xfrm>
              <a:custGeom>
                <a:rect b="b" l="l" r="r" t="t"/>
                <a:pathLst>
                  <a:path extrusionOk="0" h="727" w="188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1" name="Google Shape;41;p15"/>
              <p:cNvSpPr/>
              <p:nvPr/>
            </p:nvSpPr>
            <p:spPr>
              <a:xfrm>
                <a:off x="11772900" y="5551488"/>
                <a:ext cx="157163" cy="155575"/>
              </a:xfrm>
              <a:custGeom>
                <a:rect b="b" l="l" r="r" t="t"/>
                <a:pathLst>
                  <a:path extrusionOk="0" h="33" w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15"/>
              <p:cNvSpPr/>
              <p:nvPr/>
            </p:nvSpPr>
            <p:spPr>
              <a:xfrm>
                <a:off x="11710987" y="4763"/>
                <a:ext cx="304800" cy="1544638"/>
              </a:xfrm>
              <a:custGeom>
                <a:rect b="b" l="l" r="r" t="t"/>
                <a:pathLst>
                  <a:path extrusionOk="0" h="973" w="192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3" name="Google Shape;43;p15"/>
              <p:cNvSpPr/>
              <p:nvPr/>
            </p:nvSpPr>
            <p:spPr>
              <a:xfrm>
                <a:off x="11636375" y="4867275"/>
                <a:ext cx="188913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15"/>
              <p:cNvSpPr/>
              <p:nvPr/>
            </p:nvSpPr>
            <p:spPr>
              <a:xfrm>
                <a:off x="11441112" y="5046663"/>
                <a:ext cx="307975" cy="1801813"/>
              </a:xfrm>
              <a:custGeom>
                <a:rect b="b" l="l" r="r" t="t"/>
                <a:pathLst>
                  <a:path extrusionOk="0" h="1135" w="194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5" name="Google Shape;45;p15"/>
              <p:cNvSpPr/>
              <p:nvPr/>
            </p:nvSpPr>
            <p:spPr>
              <a:xfrm>
                <a:off x="11849100" y="64166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15"/>
              <p:cNvSpPr/>
              <p:nvPr/>
            </p:nvSpPr>
            <p:spPr>
              <a:xfrm>
                <a:off x="11939587" y="6596063"/>
                <a:ext cx="23813" cy="252413"/>
              </a:xfrm>
              <a:prstGeom prst="rect">
                <a:avLst/>
              </a:pr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7" name="Google Shape;47;p15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15"/>
          <p:cNvSpPr txBox="1"/>
          <p:nvPr>
            <p:ph idx="1" type="body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8735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71475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55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55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39725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39725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39725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39725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49" name="Google Shape;49;p15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0" name="Google Shape;50;p15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"/>
          <p:cNvSpPr txBox="1"/>
          <p:nvPr>
            <p:ph type="ctrTitle"/>
          </p:nvPr>
        </p:nvSpPr>
        <p:spPr>
          <a:xfrm>
            <a:off x="1876424" y="868362"/>
            <a:ext cx="8791575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</a:pPr>
            <a:r>
              <a:rPr lang="en-US"/>
              <a:t>積體電路導論-期末</a:t>
            </a:r>
            <a:br>
              <a:rPr lang="en-US"/>
            </a:br>
            <a:r>
              <a:rPr lang="en-US"/>
              <a:t>8</a:t>
            </a:r>
            <a:r>
              <a:rPr b="0" i="0" lang="en-US"/>
              <a:t>-BIT  LOOK AHEAD ADDERS</a:t>
            </a:r>
            <a:br>
              <a:rPr b="0" i="0" lang="en-US"/>
            </a:br>
            <a:endParaRPr/>
          </a:p>
        </p:txBody>
      </p:sp>
      <p:sp>
        <p:nvSpPr>
          <p:cNvPr id="235" name="Google Shape;235;p1"/>
          <p:cNvSpPr txBox="1"/>
          <p:nvPr>
            <p:ph idx="1" type="subTitle"/>
          </p:nvPr>
        </p:nvSpPr>
        <p:spPr>
          <a:xfrm>
            <a:off x="1876424" y="3539284"/>
            <a:ext cx="8946900" cy="19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en-US"/>
              <a:t>系別:電通三乙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en-US"/>
              <a:t>學生:林宇廷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en-US"/>
              <a:t>學號:C108110249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en-US"/>
              <a:t>指導教授:謝瑞鴻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目錄</a:t>
            </a:r>
            <a:endParaRPr/>
          </a:p>
        </p:txBody>
      </p:sp>
      <p:sp>
        <p:nvSpPr>
          <p:cNvPr id="241" name="Google Shape;241;p2"/>
          <p:cNvSpPr txBox="1"/>
          <p:nvPr>
            <p:ph idx="1" type="body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wentieth Century"/>
              <a:buAutoNum type="arabicPeriod"/>
            </a:pPr>
            <a:r>
              <a:rPr lang="en-US"/>
              <a:t>研究目的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wentieth Century"/>
              <a:buAutoNum type="arabicPeriod"/>
            </a:pPr>
            <a:r>
              <a:rPr lang="en-US"/>
              <a:t>1-bit FULL ADDER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wentieth Century"/>
              <a:buAutoNum type="arabicPeriod"/>
            </a:pPr>
            <a:r>
              <a:rPr lang="en-US"/>
              <a:t>RIPPLE FULL ADDER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wentieth Century"/>
              <a:buAutoNum type="arabicPeriod"/>
            </a:pPr>
            <a:r>
              <a:rPr b="0" i="0" lang="en-US"/>
              <a:t>4-bit  LOOK AHEAD ADDERS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wentieth Century"/>
              <a:buAutoNum type="arabicPeriod"/>
            </a:pPr>
            <a:r>
              <a:rPr lang="en-US"/>
              <a:t>VERILOG 程式碼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wentieth Century"/>
              <a:buAutoNum type="arabicPeriod"/>
            </a:pPr>
            <a:r>
              <a:rPr lang="en-US"/>
              <a:t>WAVEFORM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wentieth Century"/>
              <a:buAutoNum type="arabicPeriod"/>
            </a:pPr>
            <a:r>
              <a:rPr lang="en-US"/>
              <a:t>電路圖比較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wentieth Century"/>
              <a:buAutoNum type="arabicPeriod"/>
            </a:pPr>
            <a:r>
              <a:rPr lang="en-US"/>
              <a:t>感想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研究目的</a:t>
            </a:r>
            <a:endParaRPr/>
          </a:p>
        </p:txBody>
      </p:sp>
      <p:sp>
        <p:nvSpPr>
          <p:cNvPr id="247" name="Google Shape;247;p3"/>
          <p:cNvSpPr txBox="1"/>
          <p:nvPr>
            <p:ph idx="1" type="body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rPr lang="en-US"/>
              <a:t>在這學期中的Lab 3有做一個簡單的4位元全加器，這學期的另一堂課計算機組織有談到3種不同的加法器:漣波加法器、前瞻進位加法器以及進位選擇加法器，因為很少有機會將理論跟實作併行，剛好利用這個期末專題試試看，還蠻有趣的。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1-BIT FULL ADDER</a:t>
            </a:r>
            <a:endParaRPr/>
          </a:p>
        </p:txBody>
      </p:sp>
      <p:pic>
        <p:nvPicPr>
          <p:cNvPr descr="一張含有 桌 的圖片&#10;&#10;自動產生的描述" id="253" name="Google Shape;253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1170" y="2303463"/>
            <a:ext cx="4029075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39339" y="2297489"/>
            <a:ext cx="2953080" cy="2463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RIPPLE  FULL ADDER</a:t>
            </a:r>
            <a:endParaRPr/>
          </a:p>
        </p:txBody>
      </p:sp>
      <p:pic>
        <p:nvPicPr>
          <p:cNvPr id="260" name="Google Shape;260;p5"/>
          <p:cNvPicPr preferRelativeResize="0"/>
          <p:nvPr/>
        </p:nvPicPr>
        <p:blipFill rotWithShape="1">
          <a:blip r:embed="rId3">
            <a:alphaModFix/>
          </a:blip>
          <a:srcRect b="35336" l="47232" r="25088" t="28547"/>
          <a:stretch/>
        </p:blipFill>
        <p:spPr>
          <a:xfrm>
            <a:off x="7658774" y="575810"/>
            <a:ext cx="3809278" cy="266649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5"/>
          <p:cNvSpPr txBox="1"/>
          <p:nvPr/>
        </p:nvSpPr>
        <p:spPr>
          <a:xfrm>
            <a:off x="3438653" y="5602941"/>
            <a:ext cx="26791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Delay times為2τ*n=2n τ ns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n=4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62" name="Google Shape;262;p5"/>
          <p:cNvSpPr txBox="1"/>
          <p:nvPr/>
        </p:nvSpPr>
        <p:spPr>
          <a:xfrm>
            <a:off x="8355106" y="3292530"/>
            <a:ext cx="34536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每一個AND閘為平行處理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descr="史丹利部落格: FullAdder4：4位元串接全加器" id="263" name="Google Shape;26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9811" y="2764878"/>
            <a:ext cx="6806831" cy="2757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6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b="0" i="0" lang="en-US"/>
              <a:t>4-BIT  LOOK-AHEAD ADDERS(1/3)</a:t>
            </a:r>
            <a:endParaRPr/>
          </a:p>
        </p:txBody>
      </p:sp>
      <p:sp>
        <p:nvSpPr>
          <p:cNvPr id="269" name="Google Shape;269;p6"/>
          <p:cNvSpPr txBox="1"/>
          <p:nvPr/>
        </p:nvSpPr>
        <p:spPr>
          <a:xfrm>
            <a:off x="1062319" y="1811229"/>
            <a:ext cx="9905999" cy="3917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gk=Ai&amp;Bi            (Delay times=1τ)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pk=Ai^Bi</a:t>
            </a:r>
            <a:endParaRPr sz="2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Cin1=Cout0=(A0&amp;B0)+(A0^B0)&amp;Cin0=g0+p0&amp;Cin0         (Delay times=2τ)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Cin2=Cout0=(A1&amp;B1)+(A1^B1)&amp;Cin1=g1+p1&amp;Cin1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Cin3=Cout0=(A2&amp;B2)+(A2^B2)&amp;Cin2=g2+p2&amp;Cin2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Cin4=Cout0=(A3&amp;B3)+(A3^B3)&amp;Cin3=g3+p3&amp;Cin3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7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b="0" i="0" lang="en-US"/>
              <a:t>4-BIT  LOOK-AHEAD ADDERS(2/3)</a:t>
            </a:r>
            <a:endParaRPr/>
          </a:p>
        </p:txBody>
      </p:sp>
      <p:sp>
        <p:nvSpPr>
          <p:cNvPr id="275" name="Google Shape;275;p7"/>
          <p:cNvSpPr txBox="1"/>
          <p:nvPr/>
        </p:nvSpPr>
        <p:spPr>
          <a:xfrm>
            <a:off x="1141412" y="2097088"/>
            <a:ext cx="9905999" cy="3917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Cin1=g0+(p0&amp;Cin0)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Cin2=g1+p1&amp;Cin1= g1+(p1&amp;g0)+ (p1&amp; p0&amp;Cin0)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Cin3=g2+p2&amp;Cin2= g2+(p2&amp;g1)+(p2&amp;p1&amp;g0)+(p2&amp;p1&amp;p0&amp;Cin0)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Cin4=g3+p3&amp;Cin3=g3+(p3&amp;g2)+(p3&amp;p2&amp;g1) +(p3&amp; p2&amp;p1&amp;g0 ) +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                        (p3&amp;p2&amp;p1&amp;p0&amp;Cin0)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8"/>
          <p:cNvPicPr preferRelativeResize="0"/>
          <p:nvPr/>
        </p:nvPicPr>
        <p:blipFill rotWithShape="1">
          <a:blip r:embed="rId3">
            <a:alphaModFix/>
          </a:blip>
          <a:srcRect b="20001" l="7641" r="12747" t="39999"/>
          <a:stretch/>
        </p:blipFill>
        <p:spPr>
          <a:xfrm>
            <a:off x="2193423" y="2097088"/>
            <a:ext cx="7067120" cy="37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8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b="0" i="0" lang="en-US"/>
              <a:t>4-BIT  LOOK-AHEAD ADDERS(3/3)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b="0" i="0" lang="en-US"/>
              <a:t>VERILOG 程式碼</a:t>
            </a:r>
            <a:r>
              <a:rPr lang="en-US"/>
              <a:t>(1/2)</a:t>
            </a:r>
            <a:r>
              <a:rPr b="0" i="0" lang="en-US"/>
              <a:t> </a:t>
            </a:r>
            <a:r>
              <a:rPr lang="en-US"/>
              <a:t>8BITS_ADDER.V檔</a:t>
            </a:r>
            <a:endParaRPr/>
          </a:p>
        </p:txBody>
      </p:sp>
      <p:pic>
        <p:nvPicPr>
          <p:cNvPr id="287" name="Google Shape;287;p9"/>
          <p:cNvPicPr preferRelativeResize="0"/>
          <p:nvPr/>
        </p:nvPicPr>
        <p:blipFill rotWithShape="1">
          <a:blip r:embed="rId3">
            <a:alphaModFix/>
          </a:blip>
          <a:srcRect b="31054" l="0" r="0" t="0"/>
          <a:stretch/>
        </p:blipFill>
        <p:spPr>
          <a:xfrm>
            <a:off x="308375" y="2097094"/>
            <a:ext cx="11829610" cy="4587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0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b="0" i="0" lang="en-US"/>
              <a:t>VERILOG 程式碼(2/2) </a:t>
            </a:r>
            <a:r>
              <a:rPr lang="en-US"/>
              <a:t>8BITS_ADDER_TB.V檔</a:t>
            </a:r>
            <a:endParaRPr/>
          </a:p>
        </p:txBody>
      </p:sp>
      <p:pic>
        <p:nvPicPr>
          <p:cNvPr id="293" name="Google Shape;2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1413" y="1568824"/>
            <a:ext cx="3868843" cy="5289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b="0" i="0" lang="en-US"/>
              <a:t>WAVEFORM</a:t>
            </a:r>
            <a:endParaRPr/>
          </a:p>
        </p:txBody>
      </p:sp>
      <p:sp>
        <p:nvSpPr>
          <p:cNvPr id="299" name="Google Shape;299;p11"/>
          <p:cNvSpPr txBox="1"/>
          <p:nvPr>
            <p:ph idx="1" type="body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300" name="Google Shape;300;p11"/>
          <p:cNvPicPr preferRelativeResize="0"/>
          <p:nvPr/>
        </p:nvPicPr>
        <p:blipFill rotWithShape="1">
          <a:blip r:embed="rId3">
            <a:alphaModFix/>
          </a:blip>
          <a:srcRect b="0" l="0" r="40294" t="0"/>
          <a:stretch/>
        </p:blipFill>
        <p:spPr>
          <a:xfrm>
            <a:off x="486176" y="2249487"/>
            <a:ext cx="10298366" cy="1741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11"/>
          <p:cNvPicPr preferRelativeResize="0"/>
          <p:nvPr/>
        </p:nvPicPr>
        <p:blipFill rotWithShape="1">
          <a:blip r:embed="rId3">
            <a:alphaModFix/>
          </a:blip>
          <a:srcRect b="0" l="58087" r="0" t="0"/>
          <a:stretch/>
        </p:blipFill>
        <p:spPr>
          <a:xfrm>
            <a:off x="3263152" y="4336541"/>
            <a:ext cx="8633013" cy="1683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"/>
          <p:cNvSpPr txBox="1"/>
          <p:nvPr>
            <p:ph type="title"/>
          </p:nvPr>
        </p:nvSpPr>
        <p:spPr>
          <a:xfrm>
            <a:off x="1141413" y="645412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wentieth Century"/>
              <a:buNone/>
            </a:pPr>
            <a:r>
              <a:rPr b="0" i="0" lang="en-US"/>
              <a:t>CARRY LOOK-AHEAD ADDERS</a:t>
            </a:r>
            <a:br>
              <a:rPr b="0" i="0" lang="en-US"/>
            </a:br>
            <a:r>
              <a:rPr b="0" i="0" lang="en-US"/>
              <a:t>VS</a:t>
            </a:r>
            <a:br>
              <a:rPr b="0" i="0" lang="en-US"/>
            </a:br>
            <a:r>
              <a:rPr lang="en-US"/>
              <a:t> RIPPLE FULL ADDER</a:t>
            </a:r>
            <a:br>
              <a:rPr b="0" i="0" lang="en-US"/>
            </a:br>
            <a:endParaRPr/>
          </a:p>
        </p:txBody>
      </p:sp>
      <p:sp>
        <p:nvSpPr>
          <p:cNvPr id="307" name="Google Shape;307;p12"/>
          <p:cNvSpPr txBox="1"/>
          <p:nvPr/>
        </p:nvSpPr>
        <p:spPr>
          <a:xfrm>
            <a:off x="7047113" y="5418276"/>
            <a:ext cx="27047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Delay time=2*8 τ =16 τ ns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08" name="Google Shape;308;p12"/>
          <p:cNvSpPr txBox="1"/>
          <p:nvPr/>
        </p:nvSpPr>
        <p:spPr>
          <a:xfrm>
            <a:off x="1272063" y="5325943"/>
            <a:ext cx="380443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Delay time(sum)=1 τ +2 τ +2 τ =5 τ 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Delay time(carry)=1 τ +2 τ =3 τ ns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descr="kaimin: 一位元全加器&amp;八位元漣波進位全加器" id="309" name="Google Shape;30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77435" y="2891350"/>
            <a:ext cx="6445624" cy="1913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1593" y="1991072"/>
            <a:ext cx="4085378" cy="323626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2"/>
          <p:cNvSpPr txBox="1"/>
          <p:nvPr/>
        </p:nvSpPr>
        <p:spPr>
          <a:xfrm>
            <a:off x="2689412" y="5993941"/>
            <a:ext cx="169432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Win</a:t>
            </a:r>
            <a:endParaRPr sz="4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3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心得</a:t>
            </a:r>
            <a:endParaRPr/>
          </a:p>
        </p:txBody>
      </p:sp>
      <p:sp>
        <p:nvSpPr>
          <p:cNvPr id="317" name="Google Shape;317;p13"/>
          <p:cNvSpPr txBox="1"/>
          <p:nvPr>
            <p:ph idx="1" type="body"/>
          </p:nvPr>
        </p:nvSpPr>
        <p:spPr>
          <a:xfrm>
            <a:off x="1141412" y="19446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/>
              <a:t>這學期學習用硬體描述語言來完成電路，跟以往大一大二實際接線完成電路相比十分方便，但是在方便的背後有些容易犯錯的地方，例如語法，邏輯…等，不過每次的LAB學長都會幫忙debug指出一些錯誤的地方，讓我學到滿多觀念，非常感恩，也謝謝老師提供這個環境讓我們學習verilog以及請外師演講，雖然做的實驗比較簡單，但讓我們確實的瞭解新的領域。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4"/>
          <p:cNvSpPr txBox="1"/>
          <p:nvPr>
            <p:ph idx="1" type="body"/>
          </p:nvPr>
        </p:nvSpPr>
        <p:spPr>
          <a:xfrm>
            <a:off x="4139700" y="258365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50"/>
              <a:buNone/>
            </a:pPr>
            <a:r>
              <a:rPr lang="en-US" sz="6600"/>
              <a:t>謝謝大家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電路">
  <a:themeElements>
    <a:clrScheme name="Circuit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2021-06-14T14:24:03Z</dcterms:created>
  <dc:creator>凱翔 游</dc:creator>
</cp:coreProperties>
</file>